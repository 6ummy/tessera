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image" Target="../media/image-8-3.jpg"/><Relationship Id="rId4" Type="http://schemas.openxmlformats.org/officeDocument/2006/relationships/image" Target="../media/image-8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image" Target="../media/image-9-3.jpg"/><Relationship Id="rId4" Type="http://schemas.openxmlformats.org/officeDocument/2006/relationships/image" Target="../media/image-9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548640"/>
            <a:ext cx="502920" cy="50292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35640" y="548640"/>
            <a:ext cx="502920" cy="502920"/>
          </a:xfrm>
          <a:prstGeom prst="rect">
            <a:avLst/>
          </a:prstGeom>
          <a:solidFill>
            <a:srgbClr val="EDEBE0"/>
          </a:solidFill>
          <a:ln w="12700">
            <a:solidFill>
              <a:srgbClr val="EDEB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0" y="548640"/>
            <a:ext cx="502920" cy="502920"/>
          </a:xfrm>
          <a:prstGeom prst="rect">
            <a:avLst/>
          </a:prstGeom>
          <a:solidFill>
            <a:srgbClr val="EDEBE0"/>
          </a:solidFill>
          <a:ln w="12700">
            <a:solidFill>
              <a:srgbClr val="EDEB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0" y="1143000"/>
            <a:ext cx="502920" cy="502920"/>
          </a:xfrm>
          <a:prstGeom prst="rect">
            <a:avLst/>
          </a:prstGeom>
          <a:solidFill>
            <a:srgbClr val="EDEBE0"/>
          </a:solidFill>
          <a:ln w="12700">
            <a:solidFill>
              <a:srgbClr val="EDEB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35640" y="1143000"/>
            <a:ext cx="502920" cy="502920"/>
          </a:xfrm>
          <a:prstGeom prst="rect">
            <a:avLst/>
          </a:prstGeom>
          <a:solidFill>
            <a:srgbClr val="1F1E1B"/>
          </a:solidFill>
          <a:ln w="12700">
            <a:solidFill>
              <a:srgbClr val="1F1E1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0000" y="1143000"/>
            <a:ext cx="502920" cy="502920"/>
          </a:xfrm>
          <a:prstGeom prst="rect">
            <a:avLst/>
          </a:prstGeom>
          <a:solidFill>
            <a:srgbClr val="EDEBE0"/>
          </a:solidFill>
          <a:ln w="12700">
            <a:solidFill>
              <a:srgbClr val="EDEB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0" y="1737360"/>
            <a:ext cx="502920" cy="502920"/>
          </a:xfrm>
          <a:prstGeom prst="rect">
            <a:avLst/>
          </a:prstGeom>
          <a:solidFill>
            <a:srgbClr val="EDEBE0"/>
          </a:solidFill>
          <a:ln w="12700">
            <a:solidFill>
              <a:srgbClr val="EDEB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835640" y="1737360"/>
            <a:ext cx="502920" cy="502920"/>
          </a:xfrm>
          <a:prstGeom prst="rect">
            <a:avLst/>
          </a:prstGeom>
          <a:solidFill>
            <a:srgbClr val="EDEBE0"/>
          </a:solidFill>
          <a:ln w="12700">
            <a:solidFill>
              <a:srgbClr val="EDEB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0" y="1737360"/>
            <a:ext cx="502920" cy="502920"/>
          </a:xfrm>
          <a:prstGeom prst="rect">
            <a:avLst/>
          </a:prstGeom>
          <a:solidFill>
            <a:srgbClr val="6B8E6B"/>
          </a:solidFill>
          <a:ln w="12700">
            <a:solidFill>
              <a:srgbClr val="6B8E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640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F1E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Tessera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8640" y="2286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26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DECK · AI STUDY GROUP · 2026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2743200"/>
            <a:ext cx="10972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spc="-200" kern="0" dirty="0">
                <a:solidFill>
                  <a:srgbClr val="1F1E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multi-agent LLM
</a:t>
            </a:r>
            <a:pPr indent="0" marL="0">
              <a:buNone/>
            </a:pPr>
            <a:r>
              <a:rPr lang="en-US" sz="6000" i="1" spc="-200" kern="0" dirty="0">
                <a:solidFill>
                  <a:srgbClr val="C26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desk </a:t>
            </a:r>
            <a:pPr indent="0" marL="0">
              <a:buNone/>
            </a:pPr>
            <a:r>
              <a:rPr lang="en-US" sz="6000" spc="-200" kern="0" dirty="0">
                <a:solidFill>
                  <a:srgbClr val="1F1E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long-term</a:t>
            </a:r>
            <a:endParaRPr lang="en-US" sz="6000" dirty="0"/>
          </a:p>
          <a:p>
            <a:pPr indent="0" marL="0">
              <a:buNone/>
            </a:pPr>
            <a:r>
              <a:rPr lang="en-US" sz="6000" spc="-200" kern="0" dirty="0">
                <a:solidFill>
                  <a:srgbClr val="1F1E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investing.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548640" y="56692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built it: data ingestion · feature computation · persona spec design · LLM pipeline · risk gateway · brokerage integration · compliance.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github.com/6ummy/Tessera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26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spc="-100" kern="0" dirty="0">
                <a:solidFill>
                  <a:srgbClr val="1F1E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Eight things </a:t>
            </a:r>
            <a:pPr indent="0" marL="0">
              <a:buNone/>
            </a:pPr>
            <a:r>
              <a:rPr lang="en-US" sz="3200" i="1" spc="-100" kern="0" dirty="0">
                <a:solidFill>
                  <a:srgbClr val="3D3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walk through.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2697480" cy="1874520"/>
          </a:xfrm>
          <a:prstGeom prst="rect">
            <a:avLst/>
          </a:prstGeom>
          <a:solidFill>
            <a:srgbClr val="FAF9F5"/>
          </a:solidFill>
          <a:ln w="6350">
            <a:solidFill>
              <a:srgbClr val="1F1E1B">
                <a:alpha val="8000"/>
              </a:srgbClr>
            </a:solidFill>
            <a:prstDash val="solid"/>
          </a:ln>
          <a:effectLst>
            <a:outerShdw sx="100000" sy="100000" kx="0" ky="0" algn="bl" rotWithShape="0" blurRad="228600" dist="50800" dir="5400000">
              <a:srgbClr val="1F1E1B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5146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8803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E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333756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planes: data, agents, decision/execution. Why this split.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29000" y="2286000"/>
            <a:ext cx="2697480" cy="1874520"/>
          </a:xfrm>
          <a:prstGeom prst="rect">
            <a:avLst/>
          </a:prstGeom>
          <a:solidFill>
            <a:srgbClr val="FAF9F5"/>
          </a:solidFill>
          <a:ln w="6350">
            <a:solidFill>
              <a:srgbClr val="1F1E1B">
                <a:alpha val="8000"/>
              </a:srgbClr>
            </a:solidFill>
            <a:prstDash val="solid"/>
          </a:ln>
          <a:effectLst>
            <a:outerShdw sx="100000" sy="100000" kx="0" ky="0" algn="bl" rotWithShape="0" blurRad="228600" dist="50800" dir="5400000">
              <a:srgbClr val="1F1E1B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03320" y="25146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703320" y="28803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E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Stack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703320" y="333756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· Firebase · Cloud Run · Neon · Anthropic · Alpaca. Why each.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309360" y="2286000"/>
            <a:ext cx="2697480" cy="1874520"/>
          </a:xfrm>
          <a:prstGeom prst="rect">
            <a:avLst/>
          </a:prstGeom>
          <a:solidFill>
            <a:srgbClr val="FAF9F5"/>
          </a:solidFill>
          <a:ln w="6350">
            <a:solidFill>
              <a:srgbClr val="1F1E1B">
                <a:alpha val="8000"/>
              </a:srgbClr>
            </a:solidFill>
            <a:prstDash val="solid"/>
          </a:ln>
          <a:effectLst>
            <a:outerShdw sx="100000" sy="100000" kx="0" ky="0" algn="bl" rotWithShape="0" blurRad="228600" dist="50800" dir="5400000">
              <a:srgbClr val="1F1E1B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83680" y="25146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83680" y="28803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E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ingestion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83680" y="333756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EOD prices, fundamentals, macro, news. APIs, frequency, storage shape.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189720" y="2286000"/>
            <a:ext cx="2697480" cy="1874520"/>
          </a:xfrm>
          <a:prstGeom prst="rect">
            <a:avLst/>
          </a:prstGeom>
          <a:solidFill>
            <a:srgbClr val="FAF9F5"/>
          </a:solidFill>
          <a:ln w="6350">
            <a:solidFill>
              <a:srgbClr val="1F1E1B">
                <a:alpha val="8000"/>
              </a:srgbClr>
            </a:solidFill>
            <a:prstDash val="solid"/>
          </a:ln>
          <a:effectLst>
            <a:outerShdw sx="100000" sy="100000" kx="0" ky="0" algn="bl" rotWithShape="0" blurRad="228600" dist="50800" dir="5400000">
              <a:srgbClr val="1F1E1B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464040" y="25146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464040" y="28803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E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Hallucination defense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464040" y="333756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most important design choice: LLMs never compute numbers.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4389120"/>
            <a:ext cx="2697480" cy="1874520"/>
          </a:xfrm>
          <a:prstGeom prst="rect">
            <a:avLst/>
          </a:prstGeom>
          <a:solidFill>
            <a:srgbClr val="FAF9F5"/>
          </a:solidFill>
          <a:ln w="6350">
            <a:solidFill>
              <a:srgbClr val="1F1E1B">
                <a:alpha val="8000"/>
              </a:srgbClr>
            </a:solidFill>
            <a:prstDash val="solid"/>
          </a:ln>
          <a:effectLst>
            <a:outerShdw sx="100000" sy="100000" kx="0" ky="0" algn="bl" rotWithShape="0" blurRad="228600" dist="50800" dir="5400000">
              <a:srgbClr val="1F1E1B">
                <a:alpha val="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22960" y="46177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2960" y="49834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E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 spec design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2960" y="544068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 system prompt. What goes in, what's forbidden.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29000" y="4389120"/>
            <a:ext cx="2697480" cy="1874520"/>
          </a:xfrm>
          <a:prstGeom prst="rect">
            <a:avLst/>
          </a:prstGeom>
          <a:solidFill>
            <a:srgbClr val="FAF9F5"/>
          </a:solidFill>
          <a:ln w="6350">
            <a:solidFill>
              <a:srgbClr val="1F1E1B">
                <a:alpha val="8000"/>
              </a:srgbClr>
            </a:solidFill>
            <a:prstDash val="solid"/>
          </a:ln>
          <a:effectLst>
            <a:outerShdw sx="100000" sy="100000" kx="0" ky="0" algn="bl" rotWithShape="0" blurRad="228600" dist="50800" dir="5400000">
              <a:srgbClr val="1F1E1B">
                <a:alpha val="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703320" y="46177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703320" y="49834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E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data, four readings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703320" y="544068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four personas interpret one earnings release differently.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309360" y="4389120"/>
            <a:ext cx="2697480" cy="1874520"/>
          </a:xfrm>
          <a:prstGeom prst="rect">
            <a:avLst/>
          </a:prstGeom>
          <a:solidFill>
            <a:srgbClr val="FAF9F5"/>
          </a:solidFill>
          <a:ln w="6350">
            <a:solidFill>
              <a:srgbClr val="1F1E1B">
                <a:alpha val="8000"/>
              </a:srgbClr>
            </a:solidFill>
            <a:prstDash val="solid"/>
          </a:ln>
          <a:effectLst>
            <a:outerShdw sx="100000" sy="100000" kx="0" ky="0" algn="bl" rotWithShape="0" blurRad="228600" dist="50800" dir="5400000">
              <a:srgbClr val="1F1E1B">
                <a:alpha val="6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583680" y="46177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583680" y="49834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E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call pipeline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583680" y="544068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 screen → Sonnet thesis → Pydantic validate → citation check.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189720" y="4389120"/>
            <a:ext cx="2697480" cy="1874520"/>
          </a:xfrm>
          <a:prstGeom prst="rect">
            <a:avLst/>
          </a:prstGeom>
          <a:solidFill>
            <a:srgbClr val="FAF9F5"/>
          </a:solidFill>
          <a:ln w="6350">
            <a:solidFill>
              <a:srgbClr val="1F1E1B">
                <a:alpha val="8000"/>
              </a:srgbClr>
            </a:solidFill>
            <a:prstDash val="solid"/>
          </a:ln>
          <a:effectLst>
            <a:outerShdw sx="100000" sy="100000" kx="0" ky="0" algn="bl" rotWithShape="0" blurRad="228600" dist="50800" dir="5400000">
              <a:srgbClr val="1F1E1B">
                <a:alpha val="6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9464040" y="46177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464040" y="49834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E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Execution + compliance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464040" y="544068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Alpaca OAuth, paper/live flag, kill switch, US regulatory posture.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864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C78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Tessera · technical deck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338560" y="64922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26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SYSTEM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spc="-100" kern="0" dirty="0">
                <a:solidFill>
                  <a:srgbClr val="1F1E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planes. </a:t>
            </a:r>
            <a:pPr indent="0" marL="0">
              <a:buNone/>
            </a:pPr>
            <a:r>
              <a:rPr lang="en-US" sz="3200" i="1" spc="-100" kern="0" dirty="0">
                <a:solidFill>
                  <a:srgbClr val="3D3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Strict one-way flow.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11064240" cy="1325880"/>
          </a:xfrm>
          <a:prstGeom prst="rect">
            <a:avLst/>
          </a:prstGeom>
          <a:solidFill>
            <a:srgbClr val="FAF9F5"/>
          </a:solidFill>
          <a:ln w="6350">
            <a:solidFill>
              <a:srgbClr val="1F1E1B">
                <a:alpha val="8000"/>
              </a:srgbClr>
            </a:solidFill>
            <a:prstDash val="solid"/>
          </a:ln>
          <a:effectLst>
            <a:outerShdw sx="100000" sy="100000" kx="0" ky="0" algn="bl" rotWithShape="0" blurRad="228600" dist="50800" dir="5400000">
              <a:srgbClr val="1F1E1B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194560"/>
            <a:ext cx="73152" cy="1325880"/>
          </a:xfrm>
          <a:prstGeom prst="rect">
            <a:avLst/>
          </a:prstGeom>
          <a:solidFill>
            <a:srgbClr val="6B8E6B"/>
          </a:solidFill>
          <a:ln w="12700">
            <a:solidFill>
              <a:srgbClr val="6B8E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377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8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PLANE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26517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A29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Ingest · normalize · store · embed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120640" y="2423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B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Alpaca WS / Coinbase WS (EOD)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412480" y="2423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B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FMP, SEC EDGAR (fundamentals, filings)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120640" y="2880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B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FRED (macro)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412480" y="2880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B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NewsAPI, Reddit, X (text)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685032"/>
            <a:ext cx="11064240" cy="1325880"/>
          </a:xfrm>
          <a:prstGeom prst="rect">
            <a:avLst/>
          </a:prstGeom>
          <a:solidFill>
            <a:srgbClr val="FAF9F5"/>
          </a:solidFill>
          <a:ln w="6350">
            <a:solidFill>
              <a:srgbClr val="1F1E1B">
                <a:alpha val="8000"/>
              </a:srgbClr>
            </a:solidFill>
            <a:prstDash val="solid"/>
          </a:ln>
          <a:effectLst>
            <a:outerShdw sx="100000" sy="100000" kx="0" ky="0" algn="bl" rotWithShape="0" blurRad="228600" dist="50800" dir="5400000">
              <a:srgbClr val="1F1E1B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685032"/>
            <a:ext cx="73152" cy="132588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8679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PLANE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" y="41422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A29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 features · write theses · in parallel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120640" y="39136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B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Warren · Cathie · Ray · Peter (Anthropic Claude)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412480" y="39136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B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Haiku 4.5 first pass → Sonnet 4.6 thesis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120640" y="43708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B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Pydantic schema validation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412480" y="43708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B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pgvector recall of prior theses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5175504"/>
            <a:ext cx="11064240" cy="1325880"/>
          </a:xfrm>
          <a:prstGeom prst="rect">
            <a:avLst/>
          </a:prstGeom>
          <a:solidFill>
            <a:srgbClr val="FAF9F5"/>
          </a:solidFill>
          <a:ln w="6350">
            <a:solidFill>
              <a:srgbClr val="1F1E1B">
                <a:alpha val="8000"/>
              </a:srgbClr>
            </a:solidFill>
            <a:prstDash val="solid"/>
          </a:ln>
          <a:effectLst>
            <a:outerShdw sx="100000" sy="100000" kx="0" ky="0" algn="bl" rotWithShape="0" blurRad="228600" dist="50800" dir="5400000">
              <a:srgbClr val="1F1E1B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5175504"/>
            <a:ext cx="73152" cy="1325880"/>
          </a:xfrm>
          <a:prstGeom prst="rect">
            <a:avLst/>
          </a:prstGeom>
          <a:solidFill>
            <a:srgbClr val="8B6B8E"/>
          </a:solidFill>
          <a:ln w="12700">
            <a:solidFill>
              <a:srgbClr val="8B6B8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B6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+ EXECUTION PLANE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22960" y="563270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A29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Validate · enforce risk · execute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120640" y="540410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B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Quant validator (ticker exists, schema valid)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412480" y="540410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B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Risk gateway (deterministic Python, caps + VaR)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120640" y="586130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B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Paper engine (default) / Alpaca live (flagged)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412480" y="586130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B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Ledger writes + Firestore fan-out to UI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64465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C7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only flows downward. Each plane reads the one above, writes to its own store. No backward calls — keeps failures isolated and pipeline replayable.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338560" y="64922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26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STACK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spc="-100" kern="0" dirty="0">
                <a:solidFill>
                  <a:srgbClr val="1F1E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Boring choices </a:t>
            </a:r>
            <a:pPr indent="0" marL="0">
              <a:buNone/>
            </a:pPr>
            <a:r>
              <a:rPr lang="en-US" sz="3200" i="1" spc="-100" kern="0" dirty="0">
                <a:solidFill>
                  <a:srgbClr val="3D3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purpose.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3703320" cy="2057400"/>
          </a:xfrm>
          <a:prstGeom prst="rect">
            <a:avLst/>
          </a:prstGeom>
          <a:solidFill>
            <a:srgbClr val="FAF9F5"/>
          </a:solidFill>
          <a:ln w="6350">
            <a:solidFill>
              <a:srgbClr val="1F1E1B">
                <a:alpha val="8000"/>
              </a:srgbClr>
            </a:solidFill>
            <a:prstDash val="solid"/>
          </a:ln>
          <a:effectLst>
            <a:outerShdw sx="100000" sy="100000" kx="0" ky="0" algn="bl" rotWithShape="0" blurRad="228600" dist="50800" dir="5400000">
              <a:srgbClr val="1F1E1B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3774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26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E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Next.js 14 App Router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C7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RSC + server actions + streaming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306324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E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Vercel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3246120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C7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Zero-config deploy, US region, free tier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" y="342900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E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Tailwind + Radix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3611880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C7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Claude-design palette, primitives only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" y="379476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E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Recharts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3977640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C7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charts, React-native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434840" y="2194560"/>
            <a:ext cx="3703320" cy="2057400"/>
          </a:xfrm>
          <a:prstGeom prst="rect">
            <a:avLst/>
          </a:prstGeom>
          <a:solidFill>
            <a:srgbClr val="FAF9F5"/>
          </a:solidFill>
          <a:ln w="6350">
            <a:solidFill>
              <a:srgbClr val="1F1E1B">
                <a:alpha val="8000"/>
              </a:srgbClr>
            </a:solidFill>
            <a:prstDash val="solid"/>
          </a:ln>
          <a:effectLst>
            <a:outerShdw sx="100000" sy="100000" kx="0" ky="0" algn="bl" rotWithShape="0" blurRad="228600" dist="50800" dir="5400000">
              <a:srgbClr val="1F1E1B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09160" y="23774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26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+ REALTIME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09160" y="269748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E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 Auth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09160" y="2880360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C7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Google/Apple SSO, no custom auth code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09160" y="306324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E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Firestore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09160" y="3246120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C7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subscriptions for fan-out to UI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09160" y="342900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E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FCM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09160" y="3611880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C7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alerts on rebalance / new portfolio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321040" y="2194560"/>
            <a:ext cx="3703320" cy="2057400"/>
          </a:xfrm>
          <a:prstGeom prst="rect">
            <a:avLst/>
          </a:prstGeom>
          <a:solidFill>
            <a:srgbClr val="FAF9F5"/>
          </a:solidFill>
          <a:ln w="6350">
            <a:solidFill>
              <a:srgbClr val="1F1E1B">
                <a:alpha val="8000"/>
              </a:srgbClr>
            </a:solidFill>
            <a:prstDash val="solid"/>
          </a:ln>
          <a:effectLst>
            <a:outerShdw sx="100000" sy="100000" kx="0" ky="0" algn="bl" rotWithShape="0" blurRad="228600" dist="50800" dir="5400000">
              <a:srgbClr val="1F1E1B">
                <a:alpha val="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595360" y="23774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26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+ BATCH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595360" y="269748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E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Google Cloud Run Jobs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595360" y="2880360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C7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Scale-to-zero, 60-min jobs, same GCP as Firebase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595360" y="306324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E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LangGraph (LangChain)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595360" y="3246120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C7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state machine + retries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595360" y="342900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E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Anthropic Claude API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595360" y="3611880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C7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 4.5 · Sonnet 4.6 · Opus 4.7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48640" y="4434840"/>
            <a:ext cx="3703320" cy="2057400"/>
          </a:xfrm>
          <a:prstGeom prst="rect">
            <a:avLst/>
          </a:prstGeom>
          <a:solidFill>
            <a:srgbClr val="FAF9F5"/>
          </a:solidFill>
          <a:ln w="6350">
            <a:solidFill>
              <a:srgbClr val="1F1E1B">
                <a:alpha val="8000"/>
              </a:srgbClr>
            </a:solidFill>
            <a:prstDash val="solid"/>
          </a:ln>
          <a:effectLst>
            <a:outerShdw sx="100000" sy="100000" kx="0" ky="0" algn="bl" rotWithShape="0" blurRad="228600" dist="50800" dir="5400000">
              <a:srgbClr val="1F1E1B">
                <a:alpha val="6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22960" y="46177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26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+ STATE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22960" y="493776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E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Neon Postgres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22960" y="5120640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C7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Serverless, Vercel-friendly branching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22960" y="530352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E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TimescaleDB extension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22960" y="5486400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C7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OHLCV hypertables, continuous aggregates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22960" y="566928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E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pgvector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22960" y="5852160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C7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memory recall (embedding similarity)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434840" y="4434840"/>
            <a:ext cx="3703320" cy="2057400"/>
          </a:xfrm>
          <a:prstGeom prst="rect">
            <a:avLst/>
          </a:prstGeom>
          <a:solidFill>
            <a:srgbClr val="FAF9F5"/>
          </a:solidFill>
          <a:ln w="6350">
            <a:solidFill>
              <a:srgbClr val="1F1E1B">
                <a:alpha val="8000"/>
              </a:srgbClr>
            </a:solidFill>
            <a:prstDash val="solid"/>
          </a:ln>
          <a:effectLst>
            <a:outerShdw sx="100000" sy="100000" kx="0" ky="0" algn="bl" rotWithShape="0" blurRad="228600" dist="50800" dir="5400000">
              <a:srgbClr val="1F1E1B">
                <a:alpha val="6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709160" y="46177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26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BROKERAGE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09160" y="493776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E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Alpaca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709160" y="5120640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C7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stocks + crypto, single API, paper/live flag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709160" y="530352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E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OAuth flow only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709160" y="5486400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C7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never touch user broker credentials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8321040" y="4434840"/>
            <a:ext cx="3703320" cy="2057400"/>
          </a:xfrm>
          <a:prstGeom prst="rect">
            <a:avLst/>
          </a:prstGeom>
          <a:solidFill>
            <a:srgbClr val="FAF9F5"/>
          </a:solidFill>
          <a:ln w="6350">
            <a:solidFill>
              <a:srgbClr val="1F1E1B">
                <a:alpha val="8000"/>
              </a:srgbClr>
            </a:solidFill>
            <a:prstDash val="solid"/>
          </a:ln>
          <a:effectLst>
            <a:outerShdw sx="100000" sy="100000" kx="0" ky="0" algn="bl" rotWithShape="0" blurRad="228600" dist="50800" dir="5400000">
              <a:srgbClr val="1F1E1B">
                <a:alpha val="6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8595360" y="46177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26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595360" y="493776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E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Sentry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595360" y="5120640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C7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+ LLM call traces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595360" y="530352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E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Grafana Cloud free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595360" y="5486400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C7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cost dashboard, ingestor health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4864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C78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Tessera · technical deck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11338560" y="64922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26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DATA INGESTION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spc="-100" kern="0" dirty="0">
                <a:solidFill>
                  <a:srgbClr val="1F1E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Long-term means </a:t>
            </a:r>
            <a:pPr indent="0" marL="0">
              <a:buNone/>
            </a:pPr>
            <a:r>
              <a:rPr lang="en-US" sz="3200" i="1" spc="-100" kern="0" dirty="0">
                <a:solidFill>
                  <a:srgbClr val="3D3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fundamentals dominate.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11064240" cy="457200"/>
          </a:xfrm>
          <a:prstGeom prst="rect">
            <a:avLst/>
          </a:prstGeom>
          <a:solidFill>
            <a:srgbClr val="1F1E1B"/>
          </a:solidFill>
          <a:ln w="12700">
            <a:solidFill>
              <a:srgbClr val="1F1E1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1945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194560" y="21945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212080" y="21945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PULL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869680" y="21945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966960" y="21945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6517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9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Alpaca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94560" y="26517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9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alpaca.markets/v2/stocks/bars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212080" y="26517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9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EOD OHLCV, US equities + ETFs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869680" y="26517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9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daily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966960" y="2651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9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ohlcv_1d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108960"/>
            <a:ext cx="11064240" cy="457200"/>
          </a:xfrm>
          <a:prstGeom prst="rect">
            <a:avLst/>
          </a:prstGeom>
          <a:solidFill>
            <a:srgbClr val="FAF9F5"/>
          </a:solidFill>
          <a:ln w="12700">
            <a:solidFill>
              <a:srgbClr val="FAF9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1089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9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Coinbase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94560" y="3108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9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api.exchange.coinbase.com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212080" y="31089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9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EOD candles, BTC/ETH/major alts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869680" y="31089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9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daily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966960" y="3108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9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ohlcv_1d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35661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9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Modeling Prep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194560" y="35661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9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fmp.api/financials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12080" y="35661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9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Income / balance / cash flow, 5 yrs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869680" y="35661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9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quarterly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966960" y="35661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9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fundamentals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4023360"/>
            <a:ext cx="11064240" cy="457200"/>
          </a:xfrm>
          <a:prstGeom prst="rect">
            <a:avLst/>
          </a:prstGeom>
          <a:solidFill>
            <a:srgbClr val="FAF9F5"/>
          </a:solidFill>
          <a:ln w="12700">
            <a:solidFill>
              <a:srgbClr val="FAF9F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40233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9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EDGAR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194560" y="40233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9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data.sec.gov/submissions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212080" y="40233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9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10-K, 10-Q, 8-K full text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869680" y="40233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9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 filed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966960" y="4023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9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filings + GCS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31520" y="44805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9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194560" y="44805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9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stlouisfed.org/api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12080" y="44805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9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Yields, CPI, employment, ~20 series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869680" y="44805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9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 released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966960" y="44805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9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macro_series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48640" y="4937760"/>
            <a:ext cx="11064240" cy="457200"/>
          </a:xfrm>
          <a:prstGeom prst="rect">
            <a:avLst/>
          </a:prstGeom>
          <a:solidFill>
            <a:srgbClr val="FAF9F5"/>
          </a:solidFill>
          <a:ln w="12700">
            <a:solidFill>
              <a:srgbClr val="FAF9F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1520" y="49377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9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NewsAPI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194560" y="49377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9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newsapi.org/v2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212080" y="49377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9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Ticker-tagged headlines + bodies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869680" y="49377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9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hourly batch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966960" y="4937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9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news + embedding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31520" y="53949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9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 (PRAW)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194560" y="5394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9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reddit.com/r/{stocks,wallstreetbets}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212080" y="53949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9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 posts per ticker for sentiment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869680" y="53949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9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hourly batch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9966960" y="5394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9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social + embedding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48640" y="58521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C7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raw rows preserved. Pre-computed features (returns, RSI, FCF yield, PEG, regime probabilities) live in a separate ticker_features table that the LLM reads instead.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4864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C78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Tessera · technical deck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1338560" y="64922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26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HALLUCINATION DEFENSE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spc="-100" kern="0" dirty="0">
                <a:solidFill>
                  <a:srgbClr val="1F1E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LLMs write theses. </a:t>
            </a:r>
            <a:pPr indent="0" marL="0">
              <a:buNone/>
            </a:pPr>
            <a:r>
              <a:rPr lang="en-US" sz="3200" i="1" spc="-100" kern="0" dirty="0">
                <a:solidFill>
                  <a:srgbClr val="C26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 computes numbers.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5440680" cy="4114800"/>
          </a:xfrm>
          <a:prstGeom prst="rect">
            <a:avLst/>
          </a:prstGeom>
          <a:solidFill>
            <a:srgbClr val="FAF9F5"/>
          </a:solidFill>
          <a:ln w="6350">
            <a:solidFill>
              <a:srgbClr val="1F1E1B">
                <a:alpha val="8000"/>
              </a:srgbClr>
            </a:solidFill>
            <a:prstDash val="solid"/>
          </a:ln>
          <a:effectLst>
            <a:outerShdw sx="100000" sy="100000" kx="0" ky="0" algn="bl" rotWithShape="0" blurRad="228600" dist="50800" dir="5400000">
              <a:srgbClr val="1F1E1B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194560"/>
            <a:ext cx="5440680" cy="4572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28600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NAIVE PATTERN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A29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reads raw data, computes signals, decides weights.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3383280"/>
            <a:ext cx="4983480" cy="1463040"/>
          </a:xfrm>
          <a:prstGeom prst="rect">
            <a:avLst/>
          </a:prstGeom>
          <a:solidFill>
            <a:srgbClr val="1A1815"/>
          </a:solidFill>
          <a:ln w="12700">
            <a:solidFill>
              <a:srgbClr val="1A181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3566160"/>
            <a:ext cx="4526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DEB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= f"Here is AAPL's last 30 days:\n{ohlcv_csv}\n\n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DEB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is its momentum? Allocate 0–20% if bullish."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9B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model invents ret_30d = +12% (actual: −3%)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9B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recommends 18% AAPL on hallucinated signal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498348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Risks: invented numbers, wrong tickers, fabricated citations, weights that violate risk policy — all reach production.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63640" y="2194560"/>
            <a:ext cx="5440680" cy="4114800"/>
          </a:xfrm>
          <a:prstGeom prst="rect">
            <a:avLst/>
          </a:prstGeom>
          <a:solidFill>
            <a:srgbClr val="FAF9F5"/>
          </a:solidFill>
          <a:ln w="6350">
            <a:solidFill>
              <a:srgbClr val="1F1E1B">
                <a:alpha val="8000"/>
              </a:srgbClr>
            </a:solidFill>
            <a:prstDash val="solid"/>
          </a:ln>
          <a:effectLst>
            <a:outerShdw sx="100000" sy="100000" kx="0" ky="0" algn="bl" rotWithShape="0" blurRad="228600" dist="50800" dir="5400000">
              <a:srgbClr val="1F1E1B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63640" y="2194560"/>
            <a:ext cx="5440680" cy="457200"/>
          </a:xfrm>
          <a:prstGeom prst="rect">
            <a:avLst/>
          </a:prstGeom>
          <a:solidFill>
            <a:srgbClr val="6B8E6B"/>
          </a:solidFill>
          <a:ln w="12700">
            <a:solidFill>
              <a:srgbClr val="6B8E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228600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TESSERA PATTERN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92240" y="278892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A29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computes the numbers. LLM only interprets.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92240" y="3383280"/>
            <a:ext cx="4983480" cy="1463040"/>
          </a:xfrm>
          <a:prstGeom prst="rect">
            <a:avLst/>
          </a:prstGeom>
          <a:solidFill>
            <a:srgbClr val="1A1815"/>
          </a:solidFill>
          <a:ln w="12700">
            <a:solidFill>
              <a:srgbClr val="1A181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20840" y="3566160"/>
            <a:ext cx="4526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DEB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features = compute_features("AAPL")  # pandas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CA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{ret_30d: -0.031, rsi: 42, fcf_yield: 0.041,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CA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peg: 1.8, pe_fwd: 28.2, ...}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DEB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= f"{persona_spec}\nFeatures: {features}\n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DEB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 thesis. Output JSON per schema."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92240" y="498348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gets pre-validated numbers. Its only freedom is the *narrative*. Wrong tickers and fake citations are rejected downstream.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C78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Tessera · technical deck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338560" y="64922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26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PERSONA SPEC DESIGN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spc="-100" kern="0" dirty="0">
                <a:solidFill>
                  <a:srgbClr val="1F1E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persona = </a:t>
            </a:r>
            <a:pPr indent="0" marL="0">
              <a:buNone/>
            </a:pPr>
            <a:r>
              <a:rPr lang="en-US" sz="3200" i="1" spc="-100" kern="0" dirty="0">
                <a:solidFill>
                  <a:srgbClr val="3D3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tightly-specified prompt.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267712"/>
            <a:ext cx="164592" cy="164592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1945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1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2468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archetype, background, lens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164592" cy="164592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85292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1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MODEL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312724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deterministic framework the persona applies (e.g. Warren's 4-question filter)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64592" cy="164592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51129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1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378561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of pre-computed features the persona will receive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4242816"/>
            <a:ext cx="164592" cy="164592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16966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1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RULES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444398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style, banned words, formatting constraints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4901184"/>
            <a:ext cx="164592" cy="164592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82803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1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RULES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510235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Behaviors that can never be violated (e.g. 'never propose without `what_would_make_me_wrong`')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5559552"/>
            <a:ext cx="164592" cy="164592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54864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1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SCHEMA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8680" y="5760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Pydantic-validated JSON shape, every field typed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63640" y="2194560"/>
            <a:ext cx="5349240" cy="4114800"/>
          </a:xfrm>
          <a:prstGeom prst="rect">
            <a:avLst/>
          </a:prstGeom>
          <a:solidFill>
            <a:srgbClr val="1A1815"/>
          </a:solidFill>
          <a:ln w="12700">
            <a:solidFill>
              <a:srgbClr val="1A181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2377440"/>
            <a:ext cx="4892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A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warren.system.md (excerpt)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9B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VOICE: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Plainspoken Midwestern. Period-heavy.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Banned: "asymmetric", "disruptive", "TAM",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"compelling", "narrative", emojis.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9B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HARD RULES: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Every proposal MUST include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`what_would_make_me_wrong`.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No 5-year hold case → no position.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single_name_weight &lt;= 0.18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9B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(Pydantic):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Proposal(BaseModel):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ticker: str   # must exist in universe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target_weight: float = Field(ge=0, le=0.18)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horizon_days: int = Field(ge=1825)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cited_news_ids: list[UUID]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what_would_make_me_wrong: list[str]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C7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specs (~600 lines each) live in personalities.md and are versioned with the codebase.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338560" y="64922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26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THE FOUR LENSES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spc="-100" kern="0" dirty="0">
                <a:solidFill>
                  <a:srgbClr val="1F1E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market data. </a:t>
            </a:r>
            <a:pPr indent="0" marL="0">
              <a:buNone/>
            </a:pPr>
            <a:r>
              <a:rPr lang="en-US" sz="3200" i="1" spc="-100" kern="0" dirty="0">
                <a:solidFill>
                  <a:srgbClr val="3D3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different filters.</a:t>
            </a:r>
            <a:endParaRPr lang="en-US" sz="3200" dirty="0"/>
          </a:p>
        </p:txBody>
      </p:sp>
      <p:pic>
        <p:nvPicPr>
          <p:cNvPr id="4" name="Image 0" descr="C:\Users\jshin\Documents\Project\PennyMaker\apps\web\public\personas\warre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560320" y="2103120"/>
            <a:ext cx="640080" cy="640080"/>
          </a:xfrm>
          <a:prstGeom prst="ellipse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291840" y="2331720"/>
            <a:ext cx="109728" cy="109728"/>
          </a:xfrm>
          <a:prstGeom prst="ellipse">
            <a:avLst/>
          </a:prstGeom>
          <a:solidFill>
            <a:srgbClr val="1F1E1B"/>
          </a:solidFill>
          <a:ln w="12700">
            <a:solidFill>
              <a:srgbClr val="1F1E1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429000" y="2148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E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Warren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429000" y="2468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C7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· 67</a:t>
            </a:r>
            <a:endParaRPr lang="en-US" sz="900" dirty="0"/>
          </a:p>
        </p:txBody>
      </p:sp>
      <p:pic>
        <p:nvPicPr>
          <p:cNvPr id="8" name="Image 1" descr="C:\Users\jshin\Documents\Project\PennyMaker\apps\web\public\personas\cathie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46320" y="2103120"/>
            <a:ext cx="640080" cy="640080"/>
          </a:xfrm>
          <a:prstGeom prst="ellipse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577840" y="2331720"/>
            <a:ext cx="109728" cy="109728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715000" y="2148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E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Cathie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5715000" y="2468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C7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Disruptive · 32</a:t>
            </a:r>
            <a:endParaRPr lang="en-US" sz="900" dirty="0"/>
          </a:p>
        </p:txBody>
      </p:sp>
      <p:pic>
        <p:nvPicPr>
          <p:cNvPr id="12" name="Image 2" descr="C:\Users\jshin\Documents\Project\PennyMaker\apps\web\public\personas\ray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132320" y="2103120"/>
            <a:ext cx="640080" cy="640080"/>
          </a:xfrm>
          <a:prstGeom prst="ellipse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863840" y="2331720"/>
            <a:ext cx="109728" cy="109728"/>
          </a:xfrm>
          <a:prstGeom prst="ellipse">
            <a:avLst/>
          </a:prstGeom>
          <a:solidFill>
            <a:srgbClr val="8B6B8E"/>
          </a:solidFill>
          <a:ln w="12700">
            <a:solidFill>
              <a:srgbClr val="8B6B8E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8001000" y="2148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E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Ray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8001000" y="2468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C7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· 58</a:t>
            </a:r>
            <a:endParaRPr lang="en-US" sz="900" dirty="0"/>
          </a:p>
        </p:txBody>
      </p:sp>
      <p:pic>
        <p:nvPicPr>
          <p:cNvPr id="16" name="Image 3" descr="C:\Users\jshin\Documents\Project\PennyMaker\apps\web\public\personas\peter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418320" y="2103120"/>
            <a:ext cx="640080" cy="640080"/>
          </a:xfrm>
          <a:prstGeom prst="ellipse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10149840" y="2331720"/>
            <a:ext cx="109728" cy="109728"/>
          </a:xfrm>
          <a:prstGeom prst="ellipse">
            <a:avLst/>
          </a:prstGeom>
          <a:solidFill>
            <a:srgbClr val="6B8E6B"/>
          </a:solidFill>
          <a:ln w="12700">
            <a:solidFill>
              <a:srgbClr val="6B8E6B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10287000" y="2148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E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Peter</a:t>
            </a:r>
            <a:endParaRPr lang="en-US" sz="1800" dirty="0"/>
          </a:p>
        </p:txBody>
      </p:sp>
      <p:sp>
        <p:nvSpPr>
          <p:cNvPr id="19" name="Text 13"/>
          <p:cNvSpPr/>
          <p:nvPr/>
        </p:nvSpPr>
        <p:spPr>
          <a:xfrm>
            <a:off x="10287000" y="2468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C7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GARP · 44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640080" y="30175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C7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2560320" y="30175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9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FCF yield &gt; 6%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4846320" y="30175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9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Bear/base/bull on 2030 P&amp;L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7132320" y="30175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9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Regime probabilities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9418320" y="30175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9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PEG &lt; 1.2 + EPS CAGR 15–25%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548640" y="3566160"/>
            <a:ext cx="11064240" cy="548640"/>
          </a:xfrm>
          <a:prstGeom prst="rect">
            <a:avLst/>
          </a:prstGeom>
          <a:solidFill>
            <a:srgbClr val="FAF9F5"/>
          </a:solidFill>
          <a:ln w="12700">
            <a:solidFill>
              <a:srgbClr val="FAF9F5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640080" y="35661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C7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2560320" y="35661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9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7–12 names, &lt; 15% TO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4846320" y="35661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9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15–25 names, 60–90% TO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7132320" y="35661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9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8–14 ETFs, 25–40% TO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9418320" y="35661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9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12–20 names, 25–40% TO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640080" y="41148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C7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2560320" y="41148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9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5+ years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4846320" y="41148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9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3–5 years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7132320" y="41148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9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Continuous rebalance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9418320" y="41148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9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2–4 years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548640" y="4663440"/>
            <a:ext cx="11064240" cy="548640"/>
          </a:xfrm>
          <a:prstGeom prst="rect">
            <a:avLst/>
          </a:prstGeom>
          <a:solidFill>
            <a:srgbClr val="FAF9F5"/>
          </a:solidFill>
          <a:ln w="12700">
            <a:solidFill>
              <a:srgbClr val="FAF9F5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640080" y="46634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C7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TIME-FRAME LLM SEES</a:t>
            </a:r>
            <a:endParaRPr lang="en-US" sz="900" dirty="0"/>
          </a:p>
        </p:txBody>
      </p:sp>
      <p:sp>
        <p:nvSpPr>
          <p:cNvPr id="38" name="Text 32"/>
          <p:cNvSpPr/>
          <p:nvPr/>
        </p:nvSpPr>
        <p:spPr>
          <a:xfrm>
            <a:off x="2560320" y="46634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9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5y financials</a:t>
            </a:r>
            <a:endParaRPr lang="en-US" sz="1000" dirty="0"/>
          </a:p>
        </p:txBody>
      </p:sp>
      <p:sp>
        <p:nvSpPr>
          <p:cNvPr id="39" name="Text 33"/>
          <p:cNvSpPr/>
          <p:nvPr/>
        </p:nvSpPr>
        <p:spPr>
          <a:xfrm>
            <a:off x="4846320" y="46634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9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5y growth + scenarios</a:t>
            </a:r>
            <a:endParaRPr lang="en-US" sz="1000" dirty="0"/>
          </a:p>
        </p:txBody>
      </p:sp>
      <p:sp>
        <p:nvSpPr>
          <p:cNvPr id="40" name="Text 34"/>
          <p:cNvSpPr/>
          <p:nvPr/>
        </p:nvSpPr>
        <p:spPr>
          <a:xfrm>
            <a:off x="7132320" y="46634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9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 yields + macro factors</a:t>
            </a:r>
            <a:endParaRPr lang="en-US" sz="1000" dirty="0"/>
          </a:p>
        </p:txBody>
      </p:sp>
      <p:sp>
        <p:nvSpPr>
          <p:cNvPr id="41" name="Text 35"/>
          <p:cNvSpPr/>
          <p:nvPr/>
        </p:nvSpPr>
        <p:spPr>
          <a:xfrm>
            <a:off x="9418320" y="46634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9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3y EPS + observability</a:t>
            </a:r>
            <a:endParaRPr lang="en-US" sz="1000" dirty="0"/>
          </a:p>
        </p:txBody>
      </p:sp>
      <p:sp>
        <p:nvSpPr>
          <p:cNvPr id="42" name="Text 36"/>
          <p:cNvSpPr/>
          <p:nvPr/>
        </p:nvSpPr>
        <p:spPr>
          <a:xfrm>
            <a:off x="640080" y="52120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C7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IGNORES</a:t>
            </a:r>
            <a:endParaRPr lang="en-US" sz="900" dirty="0"/>
          </a:p>
        </p:txBody>
      </p:sp>
      <p:sp>
        <p:nvSpPr>
          <p:cNvPr id="43" name="Text 37"/>
          <p:cNvSpPr/>
          <p:nvPr/>
        </p:nvSpPr>
        <p:spPr>
          <a:xfrm>
            <a:off x="2560320" y="52120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9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Macro, momentum, IPOs</a:t>
            </a:r>
            <a:endParaRPr lang="en-US" sz="1000" dirty="0"/>
          </a:p>
        </p:txBody>
      </p:sp>
      <p:sp>
        <p:nvSpPr>
          <p:cNvPr id="44" name="Text 38"/>
          <p:cNvSpPr/>
          <p:nvPr/>
        </p:nvSpPr>
        <p:spPr>
          <a:xfrm>
            <a:off x="4846320" y="52120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9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Trailing P/E, gross margin</a:t>
            </a:r>
            <a:endParaRPr lang="en-US" sz="1000" dirty="0"/>
          </a:p>
        </p:txBody>
      </p:sp>
      <p:sp>
        <p:nvSpPr>
          <p:cNvPr id="45" name="Text 39"/>
          <p:cNvSpPr/>
          <p:nvPr/>
        </p:nvSpPr>
        <p:spPr>
          <a:xfrm>
            <a:off x="7132320" y="52120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9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Single stocks, sentiment</a:t>
            </a:r>
            <a:endParaRPr lang="en-US" sz="1000" dirty="0"/>
          </a:p>
        </p:txBody>
      </p:sp>
      <p:sp>
        <p:nvSpPr>
          <p:cNvPr id="46" name="Text 40"/>
          <p:cNvSpPr/>
          <p:nvPr/>
        </p:nvSpPr>
        <p:spPr>
          <a:xfrm>
            <a:off x="9418320" y="52120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9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Turnarounds, story stocks</a:t>
            </a:r>
            <a:endParaRPr lang="en-US" sz="1000" dirty="0"/>
          </a:p>
        </p:txBody>
      </p:sp>
      <p:sp>
        <p:nvSpPr>
          <p:cNvPr id="47" name="Shape 41"/>
          <p:cNvSpPr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solidFill>
            <a:srgbClr val="FAF9F5"/>
          </a:solidFill>
          <a:ln w="12700">
            <a:solidFill>
              <a:srgbClr val="FAF9F5"/>
            </a:solidFill>
            <a:prstDash val="solid"/>
          </a:ln>
        </p:spPr>
      </p:sp>
      <p:sp>
        <p:nvSpPr>
          <p:cNvPr id="48" name="Text 42"/>
          <p:cNvSpPr/>
          <p:nvPr/>
        </p:nvSpPr>
        <p:spPr>
          <a:xfrm>
            <a:off x="640080" y="57607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C7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SINGLE NAME</a:t>
            </a:r>
            <a:endParaRPr lang="en-US" sz="900" dirty="0"/>
          </a:p>
        </p:txBody>
      </p:sp>
      <p:sp>
        <p:nvSpPr>
          <p:cNvPr id="49" name="Text 43"/>
          <p:cNvSpPr/>
          <p:nvPr/>
        </p:nvSpPr>
        <p:spPr>
          <a:xfrm>
            <a:off x="2560320" y="57607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9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18%</a:t>
            </a:r>
            <a:endParaRPr lang="en-US" sz="1000" dirty="0"/>
          </a:p>
        </p:txBody>
      </p:sp>
      <p:sp>
        <p:nvSpPr>
          <p:cNvPr id="50" name="Text 44"/>
          <p:cNvSpPr/>
          <p:nvPr/>
        </p:nvSpPr>
        <p:spPr>
          <a:xfrm>
            <a:off x="4846320" y="57607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9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16%</a:t>
            </a:r>
            <a:endParaRPr lang="en-US" sz="1000" dirty="0"/>
          </a:p>
        </p:txBody>
      </p:sp>
      <p:sp>
        <p:nvSpPr>
          <p:cNvPr id="51" name="Text 45"/>
          <p:cNvSpPr/>
          <p:nvPr/>
        </p:nvSpPr>
        <p:spPr>
          <a:xfrm>
            <a:off x="7132320" y="57607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9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35% (broad equity)</a:t>
            </a:r>
            <a:endParaRPr lang="en-US" sz="1000" dirty="0"/>
          </a:p>
        </p:txBody>
      </p:sp>
      <p:sp>
        <p:nvSpPr>
          <p:cNvPr id="52" name="Text 46"/>
          <p:cNvSpPr/>
          <p:nvPr/>
        </p:nvSpPr>
        <p:spPr>
          <a:xfrm>
            <a:off x="9418320" y="57607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9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13%</a:t>
            </a:r>
            <a:endParaRPr lang="en-US" sz="1000" dirty="0"/>
          </a:p>
        </p:txBody>
      </p:sp>
      <p:sp>
        <p:nvSpPr>
          <p:cNvPr id="53" name="Text 47"/>
          <p:cNvSpPr/>
          <p:nvPr/>
        </p:nvSpPr>
        <p:spPr>
          <a:xfrm>
            <a:off x="54864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C78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Tessera · technical deck</a:t>
            </a:r>
            <a:endParaRPr lang="en-US" sz="1000" dirty="0"/>
          </a:p>
        </p:txBody>
      </p:sp>
      <p:sp>
        <p:nvSpPr>
          <p:cNvPr id="54" name="Text 48"/>
          <p:cNvSpPr/>
          <p:nvPr/>
        </p:nvSpPr>
        <p:spPr>
          <a:xfrm>
            <a:off x="11338560" y="64922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26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06b · CONCRETE EXAMPLE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spc="-100" kern="0" dirty="0">
                <a:solidFill>
                  <a:srgbClr val="1F1E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NVDA Q3 2026 release: </a:t>
            </a:r>
            <a:pPr indent="0" marL="0">
              <a:buNone/>
            </a:pPr>
            <a:r>
              <a:rPr lang="en-US" sz="3200" i="1" spc="-100" kern="0" dirty="0">
                <a:solidFill>
                  <a:srgbClr val="3D3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desk reads it.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11064240" cy="1371600"/>
          </a:xfrm>
          <a:prstGeom prst="rect">
            <a:avLst/>
          </a:prstGeom>
          <a:solidFill>
            <a:srgbClr val="1A1815"/>
          </a:solidFill>
          <a:ln w="12700">
            <a:solidFill>
              <a:srgbClr val="1A181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37744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A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Feature snapshot sent to all four personas (identical):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ticker: "NVDA", price: 1240, ret_30d: +0.082, ret_1y: +0.34, fcf_yield: 0.018,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pe_fwd: 38, eps_cagr_3y: +0.42, gross_margin_yoy: -0.03, dc_revenue_yoy: +0.41,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inference_share_yoy: +0.55, capex_intensity: 0.21, peg: 0.9, news_sentiment_7d: +0.41 }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3840480"/>
            <a:ext cx="2697480" cy="2468880"/>
          </a:xfrm>
          <a:prstGeom prst="rect">
            <a:avLst/>
          </a:prstGeom>
          <a:solidFill>
            <a:srgbClr val="FAF9F5"/>
          </a:solidFill>
          <a:ln w="6350">
            <a:solidFill>
              <a:srgbClr val="1F1E1B">
                <a:alpha val="8000"/>
              </a:srgbClr>
            </a:solidFill>
            <a:prstDash val="solid"/>
          </a:ln>
          <a:effectLst>
            <a:outerShdw sx="100000" sy="100000" kx="0" ky="0" algn="bl" rotWithShape="0" blurRad="228600" dist="50800" dir="5400000">
              <a:srgbClr val="1F1E1B">
                <a:alpha val="6000"/>
              </a:srgbClr>
            </a:outerShdw>
          </a:effectLst>
        </p:spPr>
      </p:sp>
      <p:pic>
        <p:nvPicPr>
          <p:cNvPr id="7" name="Image 0" descr="C:\Users\jshin\Documents\Project\PennyMaker\apps\web\public\personas\warre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4114800"/>
            <a:ext cx="594360" cy="594360"/>
          </a:xfrm>
          <a:prstGeom prst="ellipse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41148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E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Warren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508760" y="440740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E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HOLD · 0%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22960" y="489204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 yield 1.8% is half my bar. I can't underwrite a 5-year hold at this multiple. Watching only. Re-enter at FCF yield ≥ 5% or a 35%+ drawdown.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410712" y="3840480"/>
            <a:ext cx="2697480" cy="2468880"/>
          </a:xfrm>
          <a:prstGeom prst="rect">
            <a:avLst/>
          </a:prstGeom>
          <a:solidFill>
            <a:srgbClr val="FAF9F5"/>
          </a:solidFill>
          <a:ln w="6350">
            <a:solidFill>
              <a:srgbClr val="1F1E1B">
                <a:alpha val="8000"/>
              </a:srgbClr>
            </a:solidFill>
            <a:prstDash val="solid"/>
          </a:ln>
          <a:effectLst>
            <a:outerShdw sx="100000" sy="100000" kx="0" ky="0" algn="bl" rotWithShape="0" blurRad="228600" dist="50800" dir="5400000">
              <a:srgbClr val="1F1E1B">
                <a:alpha val="6000"/>
              </a:srgbClr>
            </a:outerShdw>
          </a:effectLst>
        </p:spPr>
      </p:sp>
      <p:pic>
        <p:nvPicPr>
          <p:cNvPr id="12" name="Image 1" descr="C:\Users\jshin\Documents\Project\PennyMaker\apps\web\public\personas\cathie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685032" y="4114800"/>
            <a:ext cx="594360" cy="594360"/>
          </a:xfrm>
          <a:prstGeom prst="ellipse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370832" y="41148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E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Cathie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4370832" y="440740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· 14%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685032" y="489204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share +55% YoY validates the bull. Bear (sovereign capex pause) loses 30%; base earns 2.5x; bull 4x. Sizing to the asymmetry — adding 200bps.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72784" y="3840480"/>
            <a:ext cx="2697480" cy="2468880"/>
          </a:xfrm>
          <a:prstGeom prst="rect">
            <a:avLst/>
          </a:prstGeom>
          <a:solidFill>
            <a:srgbClr val="FAF9F5"/>
          </a:solidFill>
          <a:ln w="6350">
            <a:solidFill>
              <a:srgbClr val="1F1E1B">
                <a:alpha val="8000"/>
              </a:srgbClr>
            </a:solidFill>
            <a:prstDash val="solid"/>
          </a:ln>
          <a:effectLst>
            <a:outerShdw sx="100000" sy="100000" kx="0" ky="0" algn="bl" rotWithShape="0" blurRad="228600" dist="50800" dir="5400000">
              <a:srgbClr val="1F1E1B">
                <a:alpha val="6000"/>
              </a:srgbClr>
            </a:outerShdw>
          </a:effectLst>
        </p:spPr>
      </p:sp>
      <p:pic>
        <p:nvPicPr>
          <p:cNvPr id="17" name="Image 2" descr="C:\Users\jshin\Documents\Project\PennyMaker\apps\web\public\personas\ray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547104" y="4114800"/>
            <a:ext cx="594360" cy="594360"/>
          </a:xfrm>
          <a:prstGeom prst="ellipse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232904" y="41148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E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Ray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7232904" y="440740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6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N/A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547104" y="489204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names aren't my desk. I'll note that AI capex strength keeps growth-quadrant probability elevated (+3pp this week), supporting equity tilt.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9134856" y="3840480"/>
            <a:ext cx="2697480" cy="2468880"/>
          </a:xfrm>
          <a:prstGeom prst="rect">
            <a:avLst/>
          </a:prstGeom>
          <a:solidFill>
            <a:srgbClr val="FAF9F5"/>
          </a:solidFill>
          <a:ln w="6350">
            <a:solidFill>
              <a:srgbClr val="1F1E1B">
                <a:alpha val="8000"/>
              </a:srgbClr>
            </a:solidFill>
            <a:prstDash val="solid"/>
          </a:ln>
          <a:effectLst>
            <a:outerShdw sx="100000" sy="100000" kx="0" ky="0" algn="bl" rotWithShape="0" blurRad="228600" dist="50800" dir="5400000">
              <a:srgbClr val="1F1E1B">
                <a:alpha val="6000"/>
              </a:srgbClr>
            </a:outerShdw>
          </a:effectLst>
        </p:spPr>
      </p:sp>
      <p:pic>
        <p:nvPicPr>
          <p:cNvPr id="22" name="Image 3" descr="C:\Users\jshin\Documents\Project\PennyMaker\apps\web\public\personas\peter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409176" y="4114800"/>
            <a:ext cx="594360" cy="594360"/>
          </a:xfrm>
          <a:prstGeom prst="ellipse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094976" y="41148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E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Peter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10094976" y="440740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8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HOLD · 7%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9409176" y="489204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 of 0.9 looks GARP-ish but the gross margin yoy is decelerating. Add trigger: stable margin + EPS revision up next quarter. Trim trigger: two qtrs of margin contraction.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54864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C78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Tessera · technical deck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11338560" y="64922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26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LLM CALL PIPELINE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spc="-100" kern="0" dirty="0">
                <a:solidFill>
                  <a:srgbClr val="1F1E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 persona, </a:t>
            </a:r>
            <a:pPr indent="0" marL="0">
              <a:buNone/>
            </a:pPr>
            <a:r>
              <a:rPr lang="en-US" sz="3200" i="1" spc="-100" kern="0" dirty="0">
                <a:solidFill>
                  <a:srgbClr val="3D3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batch per session.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103120" cy="2194560"/>
          </a:xfrm>
          <a:prstGeom prst="rect">
            <a:avLst/>
          </a:prstGeom>
          <a:solidFill>
            <a:srgbClr val="FAF9F5"/>
          </a:solidFill>
          <a:ln w="6350">
            <a:solidFill>
              <a:srgbClr val="1F1E1B">
                <a:alpha val="8000"/>
              </a:srgbClr>
            </a:solidFill>
            <a:prstDash val="solid"/>
          </a:ln>
          <a:effectLst>
            <a:outerShdw sx="100000" sy="100000" kx="0" ky="0" algn="bl" rotWithShape="0" blurRad="228600" dist="50800" dir="5400000">
              <a:srgbClr val="1F1E1B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24231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E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Universe screen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971800"/>
            <a:ext cx="1737360" cy="365760"/>
          </a:xfrm>
          <a:prstGeom prst="roundRect">
            <a:avLst>
              <a:gd name="adj" fmla="val 12500"/>
            </a:avLst>
          </a:prstGeom>
          <a:solidFill>
            <a:srgbClr val="1F1E1B"/>
          </a:solidFill>
          <a:ln w="12700">
            <a:solidFill>
              <a:srgbClr val="1F1E1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971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F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Haiku 4.5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34747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~500 tickers → top ~30 per persona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40233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261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cost/call: $0.005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88920" y="2194560"/>
            <a:ext cx="2103120" cy="2194560"/>
          </a:xfrm>
          <a:prstGeom prst="rect">
            <a:avLst/>
          </a:prstGeom>
          <a:solidFill>
            <a:srgbClr val="FAF9F5"/>
          </a:solidFill>
          <a:ln w="6350">
            <a:solidFill>
              <a:srgbClr val="1F1E1B">
                <a:alpha val="8000"/>
              </a:srgbClr>
            </a:solidFill>
            <a:prstDash val="solid"/>
          </a:ln>
          <a:effectLst>
            <a:outerShdw sx="100000" sy="100000" kx="0" ky="0" algn="bl" rotWithShape="0" blurRad="228600" dist="50800" dir="5400000">
              <a:srgbClr val="1F1E1B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971800" y="24231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E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Thesis writeup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971800" y="2971800"/>
            <a:ext cx="1737360" cy="365760"/>
          </a:xfrm>
          <a:prstGeom prst="roundRect">
            <a:avLst>
              <a:gd name="adj" fmla="val 12500"/>
            </a:avLst>
          </a:prstGeom>
          <a:solidFill>
            <a:srgbClr val="1F1E1B"/>
          </a:solidFill>
          <a:ln w="12700">
            <a:solidFill>
              <a:srgbClr val="1F1E1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71800" y="2971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F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Sonnet 4.6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971800" y="34747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analysis on shortlist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971800" y="40233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261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cost/call: $0.045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0" y="2194560"/>
            <a:ext cx="2103120" cy="2194560"/>
          </a:xfrm>
          <a:prstGeom prst="rect">
            <a:avLst/>
          </a:prstGeom>
          <a:solidFill>
            <a:srgbClr val="FAF9F5"/>
          </a:solidFill>
          <a:ln w="6350">
            <a:solidFill>
              <a:srgbClr val="1F1E1B">
                <a:alpha val="8000"/>
              </a:srgbClr>
            </a:solidFill>
            <a:prstDash val="solid"/>
          </a:ln>
          <a:effectLst>
            <a:outerShdw sx="100000" sy="100000" kx="0" ky="0" algn="bl" rotWithShape="0" blurRad="228600" dist="50800" dir="5400000">
              <a:srgbClr val="1F1E1B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212080" y="24231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E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Schema validate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212080" y="2971800"/>
            <a:ext cx="1737360" cy="365760"/>
          </a:xfrm>
          <a:prstGeom prst="roundRect">
            <a:avLst>
              <a:gd name="adj" fmla="val 12500"/>
            </a:avLst>
          </a:prstGeom>
          <a:solidFill>
            <a:srgbClr val="1F1E1B"/>
          </a:solidFill>
          <a:ln w="12700">
            <a:solidFill>
              <a:srgbClr val="1F1E1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0" y="2971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F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Pydantic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212080" y="34747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+ range checks, 1 retry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212080" y="40233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261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cost/call: free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269480" y="2194560"/>
            <a:ext cx="2103120" cy="2194560"/>
          </a:xfrm>
          <a:prstGeom prst="rect">
            <a:avLst/>
          </a:prstGeom>
          <a:solidFill>
            <a:srgbClr val="FAF9F5"/>
          </a:solidFill>
          <a:ln w="6350">
            <a:solidFill>
              <a:srgbClr val="1F1E1B">
                <a:alpha val="8000"/>
              </a:srgbClr>
            </a:solidFill>
            <a:prstDash val="solid"/>
          </a:ln>
          <a:effectLst>
            <a:outerShdw sx="100000" sy="100000" kx="0" ky="0" algn="bl" rotWithShape="0" blurRad="228600" dist="50800" dir="5400000">
              <a:srgbClr val="1F1E1B">
                <a:alpha val="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452360" y="24231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E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Citation check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452360" y="2971800"/>
            <a:ext cx="1737360" cy="365760"/>
          </a:xfrm>
          <a:prstGeom prst="roundRect">
            <a:avLst>
              <a:gd name="adj" fmla="val 12500"/>
            </a:avLst>
          </a:prstGeom>
          <a:solidFill>
            <a:srgbClr val="1F1E1B"/>
          </a:solidFill>
          <a:ln w="12700">
            <a:solidFill>
              <a:srgbClr val="1F1E1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52360" y="2971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F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452360" y="34747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cited news_id must resolve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452360" y="40233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261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cost/call: free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509760" y="2194560"/>
            <a:ext cx="2103120" cy="2194560"/>
          </a:xfrm>
          <a:prstGeom prst="rect">
            <a:avLst/>
          </a:prstGeom>
          <a:solidFill>
            <a:srgbClr val="FAF9F5"/>
          </a:solidFill>
          <a:ln w="6350">
            <a:solidFill>
              <a:srgbClr val="1F1E1B">
                <a:alpha val="8000"/>
              </a:srgbClr>
            </a:solidFill>
            <a:prstDash val="solid"/>
          </a:ln>
          <a:effectLst>
            <a:outerShdw sx="100000" sy="100000" kx="0" ky="0" algn="bl" rotWithShape="0" blurRad="228600" dist="50800" dir="5400000">
              <a:srgbClr val="1F1E1B">
                <a:alpha val="6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692640" y="24231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E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 Risk gateway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9692640" y="2971800"/>
            <a:ext cx="1737360" cy="365760"/>
          </a:xfrm>
          <a:prstGeom prst="roundRect">
            <a:avLst>
              <a:gd name="adj" fmla="val 12500"/>
            </a:avLst>
          </a:prstGeom>
          <a:solidFill>
            <a:srgbClr val="1F1E1B"/>
          </a:solidFill>
          <a:ln w="12700">
            <a:solidFill>
              <a:srgbClr val="1F1E1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92640" y="2971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F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692640" y="34747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caps, sector, VaR budget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692640" y="40233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261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cost/call: free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48640" y="4663440"/>
            <a:ext cx="11064240" cy="1645920"/>
          </a:xfrm>
          <a:prstGeom prst="rect">
            <a:avLst/>
          </a:prstGeom>
          <a:solidFill>
            <a:srgbClr val="FAF9F5"/>
          </a:solidFill>
          <a:ln w="6350">
            <a:solidFill>
              <a:srgbClr val="1F1E1B">
                <a:alpha val="8000"/>
              </a:srgbClr>
            </a:solidFill>
            <a:prstDash val="solid"/>
          </a:ln>
          <a:effectLst>
            <a:outerShdw sx="100000" sy="100000" kx="0" ky="0" algn="bl" rotWithShape="0" blurRad="228600" dist="50800" dir="5400000">
              <a:srgbClr val="1F1E1B">
                <a:alpha val="6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7724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26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MATH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77240" y="5074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9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personas × 1 batch/day × (1 Haiku screen + ~20 Sonnet calls) ≈ 80 LLM calls/day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77240" y="5440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~$1.20/day per persona thesis batch  ·  ~$1.50/day all-in including chat baseline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77240" y="5760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Prompt caching: persona spec (~3K tokens) cached at 0.1× cost across all calls within 5-min window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4864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C78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Tessera · technical deck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1338560" y="64922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26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SURFACING TO USER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spc="-100" kern="0" dirty="0">
                <a:solidFill>
                  <a:srgbClr val="1F1E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Validated outputs </a:t>
            </a:r>
            <a:pPr indent="0" marL="0">
              <a:buNone/>
            </a:pPr>
            <a:r>
              <a:rPr lang="en-US" sz="3200" i="1" spc="-100" kern="0" dirty="0">
                <a:solidFill>
                  <a:srgbClr val="3D3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stream to UI.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68680" y="2286000"/>
            <a:ext cx="1828800" cy="1737360"/>
          </a:xfrm>
          <a:prstGeom prst="roundRect">
            <a:avLst>
              <a:gd name="adj" fmla="val 5263"/>
            </a:avLst>
          </a:prstGeom>
          <a:solidFill>
            <a:srgbClr val="FAF9F5"/>
          </a:solidFill>
          <a:ln w="19050">
            <a:solidFill>
              <a:srgbClr val="1F1E1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286000"/>
            <a:ext cx="1828800" cy="17373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29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Run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A29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job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15768" y="3154680"/>
            <a:ext cx="283464" cy="0"/>
          </a:xfrm>
          <a:prstGeom prst="line">
            <a:avLst/>
          </a:prstGeom>
          <a:noFill/>
          <a:ln w="12700">
            <a:solidFill>
              <a:srgbClr val="3D3B36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017520" y="2286000"/>
            <a:ext cx="1828800" cy="1737360"/>
          </a:xfrm>
          <a:prstGeom prst="roundRect">
            <a:avLst>
              <a:gd name="adj" fmla="val 5263"/>
            </a:avLst>
          </a:prstGeom>
          <a:solidFill>
            <a:srgbClr val="FAF9F5"/>
          </a:solidFill>
          <a:ln w="19050">
            <a:solidFill>
              <a:srgbClr val="6B8E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17520" y="2286000"/>
            <a:ext cx="1828800" cy="17373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29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INTO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A29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analyst_reports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A29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(Neon Postgres)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64608" y="3154680"/>
            <a:ext cx="283464" cy="0"/>
          </a:xfrm>
          <a:prstGeom prst="line">
            <a:avLst/>
          </a:prstGeom>
          <a:noFill/>
          <a:ln w="12700">
            <a:solidFill>
              <a:srgbClr val="3D3B36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166360" y="2286000"/>
            <a:ext cx="1828800" cy="1737360"/>
          </a:xfrm>
          <a:prstGeom prst="roundRect">
            <a:avLst>
              <a:gd name="adj" fmla="val 5263"/>
            </a:avLst>
          </a:prstGeom>
          <a:solidFill>
            <a:srgbClr val="FAF9F5"/>
          </a:solidFill>
          <a:ln w="19050">
            <a:solidFill>
              <a:srgbClr val="8B6B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66360" y="2286000"/>
            <a:ext cx="1828800" cy="17373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29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fn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A29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pushes to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A29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013448" y="3154680"/>
            <a:ext cx="283464" cy="0"/>
          </a:xfrm>
          <a:prstGeom prst="line">
            <a:avLst/>
          </a:prstGeom>
          <a:noFill/>
          <a:ln w="12700">
            <a:solidFill>
              <a:srgbClr val="3D3B36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315200" y="2286000"/>
            <a:ext cx="1828800" cy="1737360"/>
          </a:xfrm>
          <a:prstGeom prst="roundRect">
            <a:avLst>
              <a:gd name="adj" fmla="val 5263"/>
            </a:avLst>
          </a:prstGeom>
          <a:solidFill>
            <a:srgbClr val="FAF9F5"/>
          </a:solidFill>
          <a:ln w="19050">
            <a:solidFill>
              <a:srgbClr val="D977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0" y="2286000"/>
            <a:ext cx="1828800" cy="17373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29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A29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A29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sub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62288" y="3154680"/>
            <a:ext cx="283464" cy="0"/>
          </a:xfrm>
          <a:prstGeom prst="line">
            <a:avLst/>
          </a:prstGeom>
          <a:noFill/>
          <a:ln w="12700">
            <a:solidFill>
              <a:srgbClr val="3D3B36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464040" y="2286000"/>
            <a:ext cx="1828800" cy="1737360"/>
          </a:xfrm>
          <a:prstGeom prst="roundRect">
            <a:avLst>
              <a:gd name="adj" fmla="val 5263"/>
            </a:avLst>
          </a:prstGeom>
          <a:solidFill>
            <a:srgbClr val="FAF9F5"/>
          </a:solidFill>
          <a:ln w="19050">
            <a:solidFill>
              <a:srgbClr val="1F1E1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64040" y="2286000"/>
            <a:ext cx="1828800" cy="17373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29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re-renders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A29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cards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A29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refresh)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572000"/>
            <a:ext cx="5440680" cy="1645920"/>
          </a:xfrm>
          <a:prstGeom prst="rect">
            <a:avLst/>
          </a:prstGeom>
          <a:solidFill>
            <a:srgbClr val="FAF9F5"/>
          </a:solidFill>
          <a:ln w="6350">
            <a:solidFill>
              <a:srgbClr val="1F1E1B">
                <a:alpha val="8000"/>
              </a:srgbClr>
            </a:solidFill>
            <a:prstDash val="solid"/>
          </a:ln>
          <a:effectLst>
            <a:outerShdw sx="100000" sy="100000" kx="0" ky="0" algn="bl" rotWithShape="0" blurRad="228600" dist="50800" dir="5400000">
              <a:srgbClr val="1F1E1B">
                <a:alpha val="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77240" y="47091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26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USER SEES IMMEDIATELY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" y="498348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D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 portfolios side-by-side on /proposals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D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Hover any position → which analyst, what conviction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D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Push notification on rebalance via FCM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72200" y="4572000"/>
            <a:ext cx="5440680" cy="1645920"/>
          </a:xfrm>
          <a:prstGeom prst="rect">
            <a:avLst/>
          </a:prstGeom>
          <a:solidFill>
            <a:srgbClr val="FAF9F5"/>
          </a:solidFill>
          <a:ln w="6350">
            <a:solidFill>
              <a:srgbClr val="1F1E1B">
                <a:alpha val="8000"/>
              </a:srgbClr>
            </a:solidFill>
            <a:prstDash val="solid"/>
          </a:ln>
          <a:effectLst>
            <a:outerShdw sx="100000" sy="100000" kx="0" ky="0" algn="bl" rotWithShape="0" blurRad="228600" dist="50800" dir="5400000">
              <a:srgbClr val="1F1E1B">
                <a:alpha val="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00800" y="47091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26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USER CAN DO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0" y="498348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D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Follow a portfolio on paper (no money committed)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D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Open chat with any analyst — discuss reasoning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D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Phase F: opt-in live trading via Alpaca OAuth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C78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Tessera · technical deck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338560" y="64922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26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07b · CHAT WITH ANALYST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spc="-100" kern="0" dirty="0">
                <a:solidFill>
                  <a:srgbClr val="1F1E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prompt assembled </a:t>
            </a:r>
            <a:pPr indent="0" marL="0">
              <a:buNone/>
            </a:pPr>
            <a:r>
              <a:rPr lang="en-US" sz="3200" i="1" spc="-100" kern="0" dirty="0">
                <a:solidFill>
                  <a:srgbClr val="3D3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 turn.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26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ASSEMBLY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5486400" cy="502920"/>
          </a:xfrm>
          <a:prstGeom prst="rect">
            <a:avLst/>
          </a:prstGeom>
          <a:solidFill>
            <a:srgbClr val="FAF9F5"/>
          </a:solidFill>
          <a:ln w="6350">
            <a:solidFill>
              <a:srgbClr val="1F1E1B">
                <a:alpha val="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64261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F1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SPEC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285292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C7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from personalities.md (cached)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0" y="27249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261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~3K tok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3172968"/>
            <a:ext cx="5486400" cy="502920"/>
          </a:xfrm>
          <a:prstGeom prst="rect">
            <a:avLst/>
          </a:prstGeom>
          <a:solidFill>
            <a:srgbClr val="FAF9F5"/>
          </a:solidFill>
          <a:ln w="6350">
            <a:solidFill>
              <a:srgbClr val="1F1E1B">
                <a:alpha val="8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209544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F1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BOOK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3419856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C7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of persona's holdings (today)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0" y="3291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261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~600 tok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3739896"/>
            <a:ext cx="5486400" cy="502920"/>
          </a:xfrm>
          <a:prstGeom prst="rect">
            <a:avLst/>
          </a:prstGeom>
          <a:solidFill>
            <a:srgbClr val="FAF9F5"/>
          </a:solidFill>
          <a:ln w="6350">
            <a:solidFill>
              <a:srgbClr val="1F1E1B">
                <a:alpha val="8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7764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F1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REPORTS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3986784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C7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3 thesis snippets, summarized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0" y="38587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261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~1K tok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4306824"/>
            <a:ext cx="5486400" cy="502920"/>
          </a:xfrm>
          <a:prstGeom prst="rect">
            <a:avLst/>
          </a:prstGeom>
          <a:solidFill>
            <a:srgbClr val="FAF9F5"/>
          </a:solidFill>
          <a:ln w="6350">
            <a:solidFill>
              <a:srgbClr val="1F1E1B">
                <a:alpha val="8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3434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F1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FEATURES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455371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C7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Pre-computed numbers for any ticker mentioned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0" y="44256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261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~400 tok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4873752"/>
            <a:ext cx="5486400" cy="502920"/>
          </a:xfrm>
          <a:prstGeom prst="rect">
            <a:avLst/>
          </a:prstGeom>
          <a:solidFill>
            <a:srgbClr val="FAF9F5"/>
          </a:solidFill>
          <a:ln w="6350">
            <a:solidFill>
              <a:srgbClr val="1F1E1B">
                <a:alpha val="8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491032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F1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HISTORY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1520" y="51206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C7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N turns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0" y="49926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261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~1.5K tok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5440680"/>
            <a:ext cx="5486400" cy="502920"/>
          </a:xfrm>
          <a:prstGeom prst="rect">
            <a:avLst/>
          </a:prstGeom>
          <a:solidFill>
            <a:srgbClr val="FAF9F5"/>
          </a:solidFill>
          <a:ln w="6350">
            <a:solidFill>
              <a:srgbClr val="1F1E1B">
                <a:alpha val="8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547725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F1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MESSAGE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" y="568756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C7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turn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0" y="55595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261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~50 tok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0" y="2194560"/>
            <a:ext cx="5212080" cy="2834640"/>
          </a:xfrm>
          <a:prstGeom prst="rect">
            <a:avLst/>
          </a:prstGeom>
          <a:solidFill>
            <a:srgbClr val="1A1815"/>
          </a:solidFill>
          <a:ln w="12700">
            <a:solidFill>
              <a:srgbClr val="1A181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29400" y="2377440"/>
            <a:ext cx="4754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DEB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reply = anthropic.messages.create(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model="claude-sonnet-4-6",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system=[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{"type":"text","text":persona_spec,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CA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"cache_control":{"type":"ephemeral"}},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{"type":"text","text":book_+_reports},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messages=conversation_history + [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{"role":"user","content":user_msg}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max_tokens=600,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00800" y="5212080"/>
            <a:ext cx="5212080" cy="1143000"/>
          </a:xfrm>
          <a:prstGeom prst="rect">
            <a:avLst/>
          </a:prstGeom>
          <a:solidFill>
            <a:srgbClr val="FAF9F5"/>
          </a:solidFill>
          <a:ln w="6350">
            <a:solidFill>
              <a:srgbClr val="1F1E1B">
                <a:alpha val="8000"/>
              </a:srgbClr>
            </a:solidFill>
            <a:prstDash val="solid"/>
          </a:ln>
          <a:effectLst>
            <a:outerShdw sx="100000" sy="100000" kx="0" ky="0" algn="bl" rotWithShape="0" blurRad="228600" dist="50800" dir="5400000">
              <a:srgbClr val="1F1E1B">
                <a:alpha val="6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629400" y="5349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26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MESSAGE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629400" y="56235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~$0.012 with caching (persona spec at 0.1× rate). Heavy chat user (50 msgs/day) ≈ $0.60/day.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864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C78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Tessera · technical deck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338560" y="64922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26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TRADING EXECUTION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spc="-100" kern="0" dirty="0">
                <a:solidFill>
                  <a:srgbClr val="1F1E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Adapter pattern. </a:t>
            </a:r>
            <a:pPr indent="0" marL="0">
              <a:buNone/>
            </a:pPr>
            <a:r>
              <a:rPr lang="en-US" sz="3200" i="1" spc="-100" kern="0" dirty="0">
                <a:solidFill>
                  <a:srgbClr val="3D3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Paper today, live by flag.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6400800" cy="2743200"/>
          </a:xfrm>
          <a:prstGeom prst="rect">
            <a:avLst/>
          </a:prstGeom>
          <a:solidFill>
            <a:srgbClr val="1A1815"/>
          </a:solidFill>
          <a:ln w="12700">
            <a:solidFill>
              <a:srgbClr val="1A181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377440"/>
            <a:ext cx="5943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A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tessera/execution/adapter.py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9B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ExecutionAdapter(Protocol):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place(self, user_id, order: Order) -&gt; Fill: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...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PaperEngine(ExecutionAdapter):  # default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CA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"""Marks-to-market in Neon ledger table."""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AlpacaLiveAdapter(ExecutionAdapter):  # flagged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CA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"""Routes via user's Alpaca OAuth token."""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adapter = (AlpacaLiveAdapter() if flag(user_id, "live")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else PaperEngine())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0" y="2194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26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FLOW (USER → ALPACA)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0" y="2606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9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User clicks 'Connect Alpaca'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0" y="2926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9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Redirect → Alpaca authorize URL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0" y="3246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9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User logs in on Alpaca's domain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0" y="3566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9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Callback returns short-lived code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0" y="3886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9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Backend exchanges code → access_token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0" y="4206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9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Token stored encrypted in Firestore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0" y="4526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9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 Every order: user confirms in UI first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5212080"/>
            <a:ext cx="11064240" cy="1280160"/>
          </a:xfrm>
          <a:prstGeom prst="rect">
            <a:avLst/>
          </a:prstGeom>
          <a:solidFill>
            <a:srgbClr val="FAF9F5"/>
          </a:solidFill>
          <a:ln w="6350">
            <a:solidFill>
              <a:srgbClr val="1F1E1B">
                <a:alpha val="8000"/>
              </a:srgbClr>
            </a:solidFill>
            <a:prstDash val="solid"/>
          </a:ln>
          <a:effectLst>
            <a:outerShdw sx="100000" sy="100000" kx="0" ky="0" algn="bl" rotWithShape="0" blurRad="228600" dist="50800" dir="5400000">
              <a:srgbClr val="1F1E1B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7240" y="5349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26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" y="56235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A29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 custody — we never receive funds.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A29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Every order: explicit user confirm in UI.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A29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Kill switch: 1 click → queue close-all positions (paper or live) via Temporal workflow.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A29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Same code path for paper/live — only the adapter changes.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C78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Tessera · technical deck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338560" y="64922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17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26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RISK + COMPLIANCE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spc="-100" kern="0" dirty="0">
                <a:solidFill>
                  <a:srgbClr val="1F1E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backstops: </a:t>
            </a:r>
            <a:pPr indent="0" marL="0">
              <a:buNone/>
            </a:pPr>
            <a:r>
              <a:rPr lang="en-US" sz="3200" i="1" spc="-100" kern="0" dirty="0">
                <a:solidFill>
                  <a:srgbClr val="3D3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code, then law.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5486400" cy="2743200"/>
          </a:xfrm>
          <a:prstGeom prst="rect">
            <a:avLst/>
          </a:prstGeom>
          <a:solidFill>
            <a:srgbClr val="1A1815"/>
          </a:solidFill>
          <a:ln w="12700">
            <a:solidFill>
              <a:srgbClr val="1A181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377440"/>
            <a:ext cx="5029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A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tessera/risk/gateway.py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9B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validate(portfolio, persona) -&gt; Result: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fail = []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pos in portfolio.positions: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pos.ticker not in UNIVERSE: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9B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fail += ["hallucinated_ticker"]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pos.weight &gt; persona.MAX_NAME: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9B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fail += ["single_name_cap_exceeded"]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sec, w in sector_weights(portfolio):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w &gt; persona.MAX_SECTOR: fail += [...]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portfolio_var(portfolio) &gt; VAR_BUDGET: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9B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fail += ["var_budget_exceeded"]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Result(ok=not fail, reasons=fail)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217920" y="2194560"/>
            <a:ext cx="5394960" cy="2743200"/>
          </a:xfrm>
          <a:prstGeom prst="rect">
            <a:avLst/>
          </a:prstGeom>
          <a:solidFill>
            <a:srgbClr val="FAF9F5"/>
          </a:solidFill>
          <a:ln w="6350">
            <a:solidFill>
              <a:srgbClr val="1F1E1B">
                <a:alpha val="8000"/>
              </a:srgbClr>
            </a:solidFill>
            <a:prstDash val="solid"/>
          </a:ln>
          <a:effectLst>
            <a:outerShdw sx="100000" sy="100000" kx="0" ky="0" algn="bl" rotWithShape="0" blurRad="228600" dist="50800" dir="5400000">
              <a:srgbClr val="1F1E1B">
                <a:alpha val="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46520" y="23317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26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REGULATORY POSTURE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46520" y="2807208"/>
            <a:ext cx="128016" cy="128016"/>
          </a:xfrm>
          <a:prstGeom prst="ellipse">
            <a:avLst/>
          </a:prstGeom>
          <a:solidFill>
            <a:srgbClr val="6B8E6B"/>
          </a:solidFill>
          <a:ln w="12700">
            <a:solidFill>
              <a:srgbClr val="6B8E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0" y="2697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only, all users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418320" y="2697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8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675120" y="295351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Research/educational — no SEC filing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46520" y="3355848"/>
            <a:ext cx="128016" cy="128016"/>
          </a:xfrm>
          <a:prstGeom prst="ellipse">
            <a:avLst/>
          </a:prstGeom>
          <a:solidFill>
            <a:srgbClr val="6B8E6B"/>
          </a:solidFill>
          <a:ln w="12700">
            <a:solidFill>
              <a:srgbClr val="6B8E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0" y="3246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trading own capital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418320" y="3246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8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675120" y="35021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advisor relationship triggered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46520" y="3904488"/>
            <a:ext cx="128016" cy="128016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Friends/family live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418320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675120" y="405079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Securities lawyer consult first (~$300)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46520" y="4453128"/>
            <a:ext cx="128016" cy="128016"/>
          </a:xfrm>
          <a:prstGeom prst="ellipse">
            <a:avLst/>
          </a:prstGeom>
          <a:solidFill>
            <a:srgbClr val="1F1E1B"/>
          </a:solidFill>
          <a:ln w="12700">
            <a:solidFill>
              <a:srgbClr val="1F1E1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0" y="4343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users live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418320" y="4343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E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675120" y="45994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SEC RIA + state Blue Sky filings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5212080"/>
            <a:ext cx="11064240" cy="1280160"/>
          </a:xfrm>
          <a:prstGeom prst="rect">
            <a:avLst/>
          </a:prstGeom>
          <a:solidFill>
            <a:srgbClr val="FAF9F5"/>
          </a:solidFill>
          <a:ln w="6350">
            <a:solidFill>
              <a:srgbClr val="1F1E1B">
                <a:alpha val="8000"/>
              </a:srgbClr>
            </a:solidFill>
            <a:prstDash val="solid"/>
          </a:ln>
          <a:effectLst>
            <a:outerShdw sx="100000" sy="100000" kx="0" ky="0" algn="bl" rotWithShape="0" blurRad="228600" dist="50800" dir="5400000">
              <a:srgbClr val="1F1E1B">
                <a:alpha val="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77240" y="5349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26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INVARIANTS WE NEVER BREAK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77240" y="56692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9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custody  ·  No personalized advice  ·  No hallucinated tickers ·  No skipping paper-trading phase  ·  No live orders without explicit user confirmation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C78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Tessera · technical deck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338560" y="64922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17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26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ECONOMICS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spc="-100" kern="0" dirty="0">
                <a:solidFill>
                  <a:srgbClr val="1F1E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$60–325/mo at pilot. </a:t>
            </a:r>
            <a:pPr indent="0" marL="0">
              <a:buNone/>
            </a:pPr>
            <a:r>
              <a:rPr lang="en-US" sz="3200" i="1" spc="-100" kern="0" dirty="0">
                <a:solidFill>
                  <a:srgbClr val="3D3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Knobs we can turn.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26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MONEY GOES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26517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9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— Haiku screens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0" y="2651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F1E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$15–40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5486400" cy="0"/>
          </a:xfrm>
          <a:prstGeom prst="line">
            <a:avLst/>
          </a:prstGeom>
          <a:noFill/>
          <a:ln w="6350">
            <a:solidFill>
              <a:srgbClr val="C9C5B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1089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9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— Sonnet thesis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0" y="3108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F1E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$30–180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474720"/>
            <a:ext cx="5486400" cy="0"/>
          </a:xfrm>
          <a:prstGeom prst="line">
            <a:avLst/>
          </a:prstGeom>
          <a:noFill/>
          <a:ln w="6350">
            <a:solidFill>
              <a:srgbClr val="C9C5B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5661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9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— Chat (user-driven)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0" y="35661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F1E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$10–50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5486400" cy="0"/>
          </a:xfrm>
          <a:prstGeom prst="line">
            <a:avLst/>
          </a:prstGeom>
          <a:noFill/>
          <a:ln w="6350">
            <a:solidFill>
              <a:srgbClr val="C9C5B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0233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9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— Opus weekly review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0" y="40233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F1E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$5–20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389120"/>
            <a:ext cx="5486400" cy="0"/>
          </a:xfrm>
          <a:prstGeom prst="line">
            <a:avLst/>
          </a:prstGeom>
          <a:noFill/>
          <a:ln w="6350">
            <a:solidFill>
              <a:srgbClr val="C9C5B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480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9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Run + Neon + Firebase free tier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0" y="44805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F1E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$0–5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846320"/>
            <a:ext cx="5486400" cy="0"/>
          </a:xfrm>
          <a:prstGeom prst="line">
            <a:avLst/>
          </a:prstGeom>
          <a:noFill/>
          <a:ln w="6350">
            <a:solidFill>
              <a:srgbClr val="C9C5B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9377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9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data (Alpaca + FMP optional)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0" y="4937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F1E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$0–30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5349240"/>
            <a:ext cx="5486400" cy="0"/>
          </a:xfrm>
          <a:prstGeom prst="line">
            <a:avLst/>
          </a:prstGeom>
          <a:noFill/>
          <a:ln w="19050">
            <a:solidFill>
              <a:srgbClr val="1F1E1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54406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0" y="54406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261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$60–325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00800" y="2194560"/>
            <a:ext cx="5212080" cy="4023360"/>
          </a:xfrm>
          <a:prstGeom prst="rect">
            <a:avLst/>
          </a:prstGeom>
          <a:solidFill>
            <a:srgbClr val="FAF9F5"/>
          </a:solidFill>
          <a:ln w="6350">
            <a:solidFill>
              <a:srgbClr val="1F1E1B">
                <a:alpha val="8000"/>
              </a:srgbClr>
            </a:solidFill>
            <a:prstDash val="solid"/>
          </a:ln>
          <a:effectLst>
            <a:outerShdw sx="100000" sy="100000" kx="0" ky="0" algn="bl" rotWithShape="0" blurRad="228600" dist="50800" dir="5400000">
              <a:srgbClr val="1F1E1B">
                <a:alpha val="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629400" y="23317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26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LEVERS TO REDUCE COST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629400" y="2743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→ weekly batch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875520" y="27432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8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−60% LLM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629400" y="299923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holdings don't need daily updates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629400" y="34015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personas → 2 personas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875520" y="34015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8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−50% LLM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629400" y="36576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can run with Warren + Cathie only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629400" y="4059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→ Haiku for thesis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875520" y="405993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8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−70% LLM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629400" y="431596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quality drops, valid trade-off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629400" y="47183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caching always-on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875520" y="471830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8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−40% LLM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629400" y="497433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persona spec (5-min TTL)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629400" y="53766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the Opus weekly review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875520" y="53766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8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−$15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629400" y="563270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with simple performance table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C7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is independent of user count. Persona analysis is shared across all subscribers.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1338560" y="64922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/ 17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26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· PLAN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spc="-100" kern="0" dirty="0">
                <a:solidFill>
                  <a:srgbClr val="1F1E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we are. </a:t>
            </a:r>
            <a:pPr indent="0" marL="0">
              <a:buNone/>
            </a:pPr>
            <a:r>
              <a:rPr lang="en-US" sz="3200" i="1" spc="-100" kern="0" dirty="0">
                <a:solidFill>
                  <a:srgbClr val="3D3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we're going.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5440680" cy="4114800"/>
          </a:xfrm>
          <a:prstGeom prst="rect">
            <a:avLst/>
          </a:prstGeom>
          <a:solidFill>
            <a:srgbClr val="FAF9F5"/>
          </a:solidFill>
          <a:ln w="6350">
            <a:solidFill>
              <a:srgbClr val="1F1E1B">
                <a:alpha val="8000"/>
              </a:srgbClr>
            </a:solidFill>
            <a:prstDash val="solid"/>
          </a:ln>
          <a:effectLst>
            <a:outerShdw sx="100000" sy="100000" kx="0" ky="0" algn="bl" rotWithShape="0" blurRad="228600" dist="50800" dir="5400000">
              <a:srgbClr val="1F1E1B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42316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26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TODAY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A29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 MVP, demo-ready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68680" y="3337560"/>
            <a:ext cx="109728" cy="109728"/>
          </a:xfrm>
          <a:prstGeom prst="ellipse">
            <a:avLst/>
          </a:prstGeom>
          <a:solidFill>
            <a:srgbClr val="6B8E6B"/>
          </a:solidFill>
          <a:ln w="12700">
            <a:solidFill>
              <a:srgbClr val="6B8E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3246120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+ Tailwind + Recharts, Vercel-ready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68680" y="3648456"/>
            <a:ext cx="109728" cy="109728"/>
          </a:xfrm>
          <a:prstGeom prst="ellipse">
            <a:avLst/>
          </a:prstGeom>
          <a:solidFill>
            <a:srgbClr val="6B8E6B"/>
          </a:solidFill>
          <a:ln w="12700">
            <a:solidFill>
              <a:srgbClr val="6B8E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557016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personas with photos, bios, system prompts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68680" y="3959352"/>
            <a:ext cx="109728" cy="109728"/>
          </a:xfrm>
          <a:prstGeom prst="ellipse">
            <a:avLst/>
          </a:prstGeom>
          <a:solidFill>
            <a:srgbClr val="6B8E6B"/>
          </a:solidFill>
          <a:ln w="12700">
            <a:solidFill>
              <a:srgbClr val="6B8E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867912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+ proposals + dashboard + how-it-works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68680" y="4270248"/>
            <a:ext cx="109728" cy="109728"/>
          </a:xfrm>
          <a:prstGeom prst="ellipse">
            <a:avLst/>
          </a:prstGeom>
          <a:solidFill>
            <a:srgbClr val="6B8E6B"/>
          </a:solidFill>
          <a:ln w="12700">
            <a:solidFill>
              <a:srgbClr val="6B8E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4178808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Slide-over detail with Thesis ↔ Chat toggle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68680" y="4581144"/>
            <a:ext cx="109728" cy="109728"/>
          </a:xfrm>
          <a:prstGeom prst="ellipse">
            <a:avLst/>
          </a:prstGeom>
          <a:solidFill>
            <a:srgbClr val="6B8E6B"/>
          </a:solidFill>
          <a:ln w="12700">
            <a:solidFill>
              <a:srgbClr val="6B8E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4489704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UI with streaming (mock backend)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68680" y="4892040"/>
            <a:ext cx="109728" cy="109728"/>
          </a:xfrm>
          <a:prstGeom prst="ellipse">
            <a:avLst/>
          </a:prstGeom>
          <a:solidFill>
            <a:srgbClr val="6B8E6B"/>
          </a:solidFill>
          <a:ln w="12700">
            <a:solidFill>
              <a:srgbClr val="6B8E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4800600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personalities.md (~600 lines/persona) ready for LLM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521208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C7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54864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· real LLM · data ingestion · paper engine · auth · broker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63640" y="2194560"/>
            <a:ext cx="5349240" cy="4114800"/>
          </a:xfrm>
          <a:prstGeom prst="rect">
            <a:avLst/>
          </a:prstGeom>
          <a:solidFill>
            <a:srgbClr val="FAF9F5"/>
          </a:solidFill>
          <a:ln w="6350">
            <a:solidFill>
              <a:srgbClr val="1F1E1B">
                <a:alpha val="8000"/>
              </a:srgbClr>
            </a:solidFill>
            <a:prstDash val="solid"/>
          </a:ln>
          <a:effectLst>
            <a:outerShdw sx="100000" sy="100000" kx="0" ky="0" algn="bl" rotWithShape="0" blurRad="228600" dist="50800" dir="5400000">
              <a:srgbClr val="1F1E1B">
                <a:alpha val="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537960" y="242316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26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TO PRODUCTION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37960" y="269748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A29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6-week pilot, paper-first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537960" y="3291840"/>
            <a:ext cx="365760" cy="36576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5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040880" y="3246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backbone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241280" y="32461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261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wk 1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040880" y="350215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Ingestors, feature builder, Neon schema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537960" y="3794760"/>
            <a:ext cx="365760" cy="365760"/>
          </a:xfrm>
          <a:prstGeom prst="ellipse">
            <a:avLst/>
          </a:prstGeom>
          <a:solidFill>
            <a:srgbClr val="1F1E1B"/>
          </a:solidFill>
          <a:ln w="12700">
            <a:solidFill>
              <a:srgbClr val="1F1E1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3796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5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040880" y="3749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LLM theses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241280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261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wks 2–3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040880" y="400507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 screen + Sonnet thesis, Pydantic validate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537960" y="4297680"/>
            <a:ext cx="365760" cy="365760"/>
          </a:xfrm>
          <a:prstGeom prst="ellipse">
            <a:avLst/>
          </a:prstGeom>
          <a:solidFill>
            <a:srgbClr val="1F1E1B"/>
          </a:solidFill>
          <a:ln w="12700">
            <a:solidFill>
              <a:srgbClr val="1F1E1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4297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5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040880" y="4251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execution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0241280" y="4251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261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wks 4–5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040880" y="450799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gateway, paper engine, real P&amp;L attribution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537960" y="4800600"/>
            <a:ext cx="365760" cy="365760"/>
          </a:xfrm>
          <a:prstGeom prst="ellipse">
            <a:avLst/>
          </a:prstGeom>
          <a:solidFill>
            <a:srgbClr val="1F1E1B"/>
          </a:solidFill>
          <a:ln w="12700">
            <a:solidFill>
              <a:srgbClr val="1F1E1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37960" y="4800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5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04088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 + follow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0241280" y="4754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261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wk 6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040880" y="501091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Auth, 3 F&amp;F users on paper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537960" y="5303520"/>
            <a:ext cx="365760" cy="365760"/>
          </a:xfrm>
          <a:prstGeom prst="ellipse">
            <a:avLst/>
          </a:prstGeom>
          <a:solidFill>
            <a:srgbClr val="1F1E1B"/>
          </a:solidFill>
          <a:ln w="12700">
            <a:solidFill>
              <a:srgbClr val="1F1E1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37960" y="5303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5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040880" y="5257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review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0241280" y="52578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261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wk 6 (parallel)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040880" y="551383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Securities lawyer consult, written advice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537960" y="5806440"/>
            <a:ext cx="365760" cy="365760"/>
          </a:xfrm>
          <a:prstGeom prst="ellipse">
            <a:avLst/>
          </a:prstGeom>
          <a:solidFill>
            <a:srgbClr val="1F1E1B"/>
          </a:solidFill>
          <a:ln w="12700">
            <a:solidFill>
              <a:srgbClr val="1F1E1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537960" y="5806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5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7040880" y="5760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trading (opt)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0241280" y="57607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261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wk 7+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040880" y="601675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Alpaca OAuth, self first, F&amp;F only if E clears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48640" y="6492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C7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done when: 4 personas writing real theses daily · 30+ days paper P&amp;L · 3 F&amp;F users active · lawyer advice on file · cost stable &lt; $200/mo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11338560" y="64922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/ 17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F1E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5074920"/>
            <a:ext cx="502920" cy="502920"/>
          </a:xfrm>
          <a:prstGeom prst="rect">
            <a:avLst/>
          </a:prstGeom>
          <a:solidFill>
            <a:srgbClr val="F5F4EE"/>
          </a:solidFill>
          <a:ln w="12700">
            <a:solidFill>
              <a:srgbClr val="F5F4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01400" y="5074920"/>
            <a:ext cx="502920" cy="502920"/>
          </a:xfrm>
          <a:prstGeom prst="rect">
            <a:avLst/>
          </a:prstGeom>
          <a:solidFill>
            <a:srgbClr val="F5F4EE"/>
          </a:solidFill>
          <a:ln w="12700">
            <a:solidFill>
              <a:srgbClr val="F5F4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07040" y="5669280"/>
            <a:ext cx="502920" cy="50292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01400" y="5669280"/>
            <a:ext cx="502920" cy="502920"/>
          </a:xfrm>
          <a:prstGeom prst="rect">
            <a:avLst/>
          </a:prstGeom>
          <a:solidFill>
            <a:srgbClr val="F5F4EE"/>
          </a:solidFill>
          <a:ln w="12700">
            <a:solidFill>
              <a:srgbClr val="F5F4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07040" y="6263640"/>
            <a:ext cx="502920" cy="502920"/>
          </a:xfrm>
          <a:prstGeom prst="rect">
            <a:avLst/>
          </a:prstGeom>
          <a:solidFill>
            <a:srgbClr val="F5F4EE"/>
          </a:solidFill>
          <a:ln w="12700">
            <a:solidFill>
              <a:srgbClr val="F5F4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01400" y="6263640"/>
            <a:ext cx="502920" cy="502920"/>
          </a:xfrm>
          <a:prstGeom prst="rect">
            <a:avLst/>
          </a:prstGeom>
          <a:solidFill>
            <a:srgbClr val="6B8E6B"/>
          </a:solidFill>
          <a:ln w="12700">
            <a:solidFill>
              <a:srgbClr val="6B8E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26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 · TECHNICAL DECK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645920"/>
            <a:ext cx="109728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spc="-300" kern="0" dirty="0">
                <a:solidFill>
                  <a:srgbClr val="F5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Questions.
</a:t>
            </a:r>
            <a:pPr indent="0" marL="0">
              <a:buNone/>
            </a:pPr>
            <a:r>
              <a:rPr lang="en-US" sz="8800" i="1" spc="-300" kern="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Comments. </a:t>
            </a:r>
            <a:pPr indent="0" marL="0">
              <a:buNone/>
            </a:pPr>
            <a:r>
              <a:rPr lang="en-US" sz="8800" spc="-300" kern="0" dirty="0">
                <a:solidFill>
                  <a:srgbClr val="F5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Forks.</a:t>
            </a:r>
            <a:endParaRPr lang="en-US" sz="8800" dirty="0"/>
          </a:p>
        </p:txBody>
      </p:sp>
      <p:sp>
        <p:nvSpPr>
          <p:cNvPr id="10" name="Text 8"/>
          <p:cNvSpPr/>
          <p:nvPr/>
        </p:nvSpPr>
        <p:spPr>
          <a:xfrm>
            <a:off x="548640" y="54864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5760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github.com/6ummy/Tessera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0" y="54864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0" y="5760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architecture.md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766560" y="54864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specs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766560" y="5760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personalities.md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8A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Tessera — a multi-agent LLM research desk (technical)</dc:title>
  <dc:subject>PptxGenJS Presentation</dc:subject>
  <dc:creator>Tessera</dc:creator>
  <cp:lastModifiedBy>Tessera</cp:lastModifiedBy>
  <cp:revision>1</cp:revision>
  <dcterms:created xsi:type="dcterms:W3CDTF">2026-05-18T19:48:18Z</dcterms:created>
  <dcterms:modified xsi:type="dcterms:W3CDTF">2026-05-18T19:48:18Z</dcterms:modified>
</cp:coreProperties>
</file>